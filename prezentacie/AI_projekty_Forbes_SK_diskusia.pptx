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141732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DISKUSIA  ·  4. 9. 2026, 13:00  ·  DÔVERNÉ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2880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projekty</a:t>
            </a:r>
            <a:endParaRPr lang="en-US" sz="4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Forbes SK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06908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Odpovede na otázky vlastníkov: finančný prínos teraz, o pol roka a o rok —</a:t>
            </a:r>
            <a:endParaRPr lang="en-US" sz="15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rozhodovací bod s dátumom a metrikou pre každý projekt.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1722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Kmoško · monetize.cx      Peter Barecz · Lucia Okšová · Forbes SK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52360" y="1417320"/>
            <a:ext cx="4160520" cy="4480560"/>
          </a:xfrm>
          <a:prstGeom prst="roundRect">
            <a:avLst>
              <a:gd name="adj" fmla="val 1538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0" y="17373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PROGRAME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0" y="212140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83880" y="210312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Portfólio nie je homogénne</a:t>
            </a:r>
            <a:pPr algn="l" indent="0" marL="0">
              <a:lnSpc>
                <a:spcPct val="105000"/>
              </a:lnSpc>
              <a:buNone/>
            </a:pP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dve kategórie, dva metre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73405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271576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</a:t>
            </a:r>
            <a:pPr algn="l" indent="0" marL="0">
              <a:lnSpc>
                <a:spcPct val="105000"/>
              </a:lnSpc>
              <a:buNone/>
            </a:pP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č. 1 — ladíme jedno číslo s Luciou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334670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328416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Peritora IQ ako príklad</a:t>
            </a:r>
            <a:pPr algn="l" indent="0" marL="0">
              <a:lnSpc>
                <a:spcPct val="105000"/>
              </a:lnSpc>
              <a:buNone/>
            </a:pP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scenáre, lievik, dátový gate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3959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183880" y="3941064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Riziková expozícia</a:t>
            </a:r>
            <a:pPr algn="l" indent="0" marL="0">
              <a:lnSpc>
                <a:spcPct val="105000"/>
              </a:lnSpc>
              <a:buNone/>
            </a:pP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zámerne veľmi nízka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45720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455371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Spôsob práce</a:t>
            </a:r>
            <a:pPr algn="l" indent="0" marL="0">
              <a:lnSpc>
                <a:spcPct val="105000"/>
              </a:lnSpc>
              <a:buNone/>
            </a:pP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skúšať · iterovať · škálovať · zahodiť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518464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516636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Rozhodovacie body</a:t>
            </a:r>
            <a:pPr algn="l" indent="0" marL="0">
              <a:lnSpc>
                <a:spcPct val="105000"/>
              </a:lnSpc>
              <a:buNone/>
            </a:pP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dátum + metrika, projekt po projekte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VÝCHODISKO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Portfólio nie je homogénne — treba ho merať dvoma metrami</a:t>
            </a:r>
            <a:endParaRPr lang="en-US" sz="2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Otázka vlastníkov je legitímna: prínos teraz, o pol roka, o rok — plus rýchlosť implementácie vs. potenciál. </a:t>
            </a:r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Odpoveď sa ale líši podľa kategórie projektu.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606040"/>
            <a:ext cx="5440680" cy="3246120"/>
          </a:xfrm>
          <a:prstGeom prst="roundRect">
            <a:avLst>
              <a:gd name="adj" fmla="val 1972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8803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·  EFEKTIVITA DOVNÚTRA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2004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Spark  ·  Channel management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703320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Prínos je merateľný a dá sa postaviť na dnešných číslach: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–"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výstup redakcie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–"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na článok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–"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počet ľudí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53492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vieme dať jedno poctivé číslo hneď.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2606040"/>
            <a:ext cx="5440680" cy="3246120"/>
          </a:xfrm>
          <a:prstGeom prst="roundRect">
            <a:avLst>
              <a:gd name="adj" fmla="val 1972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9672" y="28803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·  NOVÉ RASTOVÉ PRODUKTY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519672" y="32004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Peritora IQ · Domera IQ · Fidenta IQ · Splato · Blinks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70332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Poctivé číslo „na teraz“ neexistuje — produkt ešte nemá používateľa. Čo vieme dať:</a:t>
            </a:r>
            <a:endParaRPr lang="en-US" sz="1200" dirty="0"/>
          </a:p>
          <a:p>
            <a:pPr algn="l"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rozpätie scenárov s pomenovanými predpokladmi</a:t>
            </a:r>
            <a:endParaRPr lang="en-US" sz="1200" dirty="0"/>
          </a:p>
          <a:p>
            <a:pPr algn="l"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náklad na overenie</a:t>
            </a:r>
            <a:endParaRPr lang="en-US" sz="1200" dirty="0"/>
          </a:p>
          <a:p>
            <a:pPr algn="l"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dátum a metriku — kedy vieme, či to funguje, alebo to zahadzujeme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Férovejší podklad na rozhodovanie než prognóza, ktorá vyzerá presne — a je vymyslená.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PORTFÓLIO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Osem projektov, jedno poradie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105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Poradie podľa pomeru rýchlosť a jednoduchosť implementácie vs. potenciál výnosu — presne tak, ako sa pýtajú vlastníci.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691640"/>
                <a:gridCol w="2834640"/>
                <a:gridCol w="868680"/>
                <a:gridCol w="3154680"/>
                <a:gridCol w="1097280"/>
                <a:gridCol w="1051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PROJEKT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ČO TO JE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REALIZ. 1–5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OČAKÁVANÝ PRÍNOS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CHAMPION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interný nástroj redakcie — tvorba a akcelerácia obsahu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2B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+50 % obsahu a +50 % kvality do 3 mes. · −20 % HC do 2 rokov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Lucia O.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ladíme s Luciou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Blinks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denné články ako stories stream — nová cesta k obsahu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2B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 unique users · nový monetizačný kanál · múr proti závislosti od Googlu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Adriana H. + Vivo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MVP v príprave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Peritora IQ (Firma IQ)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hodnota firmy z IČO — ocenenie z verejného registra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28C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sponzoring · kvalifikované leady · nové publikum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Vivo (?)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MVP 2. pol. septembra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Splato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nástroj pre kreátorov — správa revenue administratívy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2B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až 0,5 M € ARR · fintech valuácia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???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B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prieskum, MVP október?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management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výkonnosť a profitabilita kanálov pre manažment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2B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prehľad na jeden pohľad · skoršia identifikácia problémov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Stevo F.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vývoj pre CZ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Domera IQ (Dom IQ)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kúpiť či prenajať — verdikt s čistým výnosom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databáza leadov · nový revenue stream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???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Fidenta IQ (Insurance IQ)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poistnej zmluvy — podpoistenie a diery v krytí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A3E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leady pre brokerov a poisťovne · nový revenue stream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???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MoneyMastermind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konverzácia nad Forbes Money obsahom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2B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potenciálny revenue · hodnota pre predplatiteľov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???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8C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zastavené na gate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Realizovateľnosť: 1 = náročné, 5 = jednoduché · Splato: 3 pre MVP, 1 pre plný rozsah · pracovné názvy v zátvorkách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 Č. 1  ·  EFEKTIVITA DOVNÚTRA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Spark — jedno číslo za obsah aj prevádzku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28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Luciou priebežne ladíme dopady tak, aby sme vlastníkom dali jeden spoločný pohľad, nie dva rôzne. Rýchlosť implementácie je najvyššia z celého zoznamu a náklad prakticky nulový — preto je Spark na prvom mieste.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606040"/>
            <a:ext cx="2624328" cy="1325880"/>
          </a:xfrm>
          <a:prstGeom prst="roundRect">
            <a:avLst>
              <a:gd name="adj" fmla="val 4828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2788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+50 %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obsahu za rovnaký čas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78708" y="2606040"/>
            <a:ext cx="2624328" cy="1325880"/>
          </a:xfrm>
          <a:prstGeom prst="roundRect">
            <a:avLst>
              <a:gd name="adj" fmla="val 4828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07308" y="2788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+50 %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607308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kvality do 3 mesiacov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90488" y="2606040"/>
            <a:ext cx="2624328" cy="1325880"/>
          </a:xfrm>
          <a:prstGeom prst="roundRect">
            <a:avLst>
              <a:gd name="adj" fmla="val 4828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9088" y="2788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−20 %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19088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 nákladov do 2 rokov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02268" y="2606040"/>
            <a:ext cx="2624328" cy="1325880"/>
          </a:xfrm>
          <a:prstGeom prst="roundRect">
            <a:avLst>
              <a:gd name="adj" fmla="val 4828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0868" y="2788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0 €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9230868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náklad na implementáciu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5440680" cy="2148840"/>
          </a:xfrm>
          <a:prstGeom prst="roundRect">
            <a:avLst>
              <a:gd name="adj" fmla="val 2979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44074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RÁMEC, V KTOROM MERIAME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47548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publikované kusy na redaktora za mesiac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od zadania po publikovanie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podiel obsahu v money témach — dnes robia väčšinu konverzií do predplatného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následná konverzia do subs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0488" y="4160520"/>
            <a:ext cx="5440680" cy="2148840"/>
          </a:xfrm>
          <a:prstGeom prst="roundRect">
            <a:avLst>
              <a:gd name="adj" fmla="val 2979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19672" y="44074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ČO TO PRINESIE A KEDY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519672" y="4754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½ roka 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prevádzkový prínos — výtlak plus subs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roka 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štrukturálny — redakcia funguje inak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19672" y="5532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Odpoveď na otázku CZ 28 vs. SK 8 ľudí: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viac obsahu a modernizácia newsroomu pri zachovaní veľkosti tímu — obsahovo početnejší a relevantnejší aj s oveľa menším tímom.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KONKRÉTNY PRÍKLAD  ·  NOVÝ RASTOVÝ PRODUKT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Peritora IQ — ako vyzerá projekt po rozpracovaní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1051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Východisko: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najväčší medzigeneračný transfer majetku v histórii SK práve začal — a väčšina majiteľov nevie, koľko je ich firma hodná. Prvý odhad dostanú, až keď zavolá kupec: v informačnej nevýhode.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487168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3200400"/>
                <a:gridCol w="32918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TERAZ (0–8 TÝŽDŇOV)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MESIACOV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MESIACOV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Tržby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0 € — pilot, nie predaj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run-rate ~0,9–2,6 tis. €/mes. — podľa toho, kde medzi konzervatívnym a základným scenárom pristaneme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 tis. € konzervatívny · 31,5 tis. € základný · 63 tis. € ambiciózny — ročne, vrátane sponzoringu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Náklad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môj čas + softvér, ktorý platím ja · infra desiatky (max stovky) €/mes. · garant (MD)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isté + prípadný part-time vývojár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isté — žiadny tím, žiadna agentúra, žiadne licenčné poplatky za dáta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Nefinančný prínos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overená alebo vyvrátená hypotéza + materiál na obsah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Forbes index hodnoty SK firiem — rebríčky a eventy, dnes ručné, vyrába nástroj automaticky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vlastná databáza majiteľov firiem — jediný kanál, ktorý prežije odpojenie od Forbesu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Rozhodovací bod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IČO → ocenenie → e-mail konvertuje? Ak nie, končíme — stálo to 3 týždne.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platí niekto za value gap report?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drží sa predplatné, alebo je to jednorazovka?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na postavenie: frontend ~7 mandays · plná verzia 2–3 týždne.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PERITORA IQ  ·  EKONOMIKA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Ako to číslo vzniká — nie je vycucané z prsta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5806440" cy="4343400"/>
          </a:xfrm>
          <a:prstGeom prst="roundRect">
            <a:avLst>
              <a:gd name="adj" fmla="val 1474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1945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LIEVIK · ZÁKLADNÝ SCENÁR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57860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 tis.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25968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reálnych používateľov Forbes SK (RU)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98094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999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podiel Peritory na dopyte po nástrojoch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3832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7 500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4015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používateľov mesačne naprieč radom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78561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3803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zadá IČO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1879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10 %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42062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nich nechá kontakt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59028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15 %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460857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nich kúpi report alebo predplatné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9926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~250 €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50109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priemerná hodnota nákupu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96112" y="5449824"/>
            <a:ext cx="5120640" cy="0"/>
          </a:xfrm>
          <a:prstGeom prst="line">
            <a:avLst/>
          </a:prstGeom>
          <a:noFill/>
          <a:ln w="12700">
            <a:solidFill>
              <a:srgbClr val="263A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96112" y="55595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1,75 €  </a:t>
            </a:r>
            <a:pPr indent="0" marL="0">
              <a:buNone/>
            </a:pPr>
            <a:r>
              <a:rPr lang="en-US" sz="125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tržieb na používateľa nástroja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556248" y="1920240"/>
            <a:ext cx="5074920" cy="4343400"/>
          </a:xfrm>
          <a:prstGeom prst="roundRect">
            <a:avLst>
              <a:gd name="adj" fmla="val 1474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85432" y="21945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CENNÍK — Z ČOHO SA TRŽBA SKLADÁ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885432" y="260604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Predplatné   </a:t>
            </a:r>
            <a:pPr indent="0" marL="0">
              <a:buNone/>
            </a:pPr>
            <a:r>
              <a:rPr lang="en-US" sz="135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20–50 € mesačne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6885432" y="2935224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to platí z nákladov, nie z peňaženky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885432" y="357530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gap report   </a:t>
            </a:r>
            <a:pPr indent="0" marL="0">
              <a:buNone/>
            </a:pPr>
            <a:r>
              <a:rPr lang="en-US" sz="135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199–499 €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885432" y="390448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jednorazový hĺbkový report: čo drží hodnotu dole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885432" y="454456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 lead   </a:t>
            </a:r>
            <a:pPr indent="0" marL="0">
              <a:buNone/>
            </a:pPr>
            <a:r>
              <a:rPr lang="en-US" sz="135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share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6885432" y="4873752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mandát je v desiatkach tisíc — aj malý podiel je veľký absolútny príjem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885432" y="5532120"/>
            <a:ext cx="4389120" cy="0"/>
          </a:xfrm>
          <a:prstGeom prst="line">
            <a:avLst/>
          </a:prstGeom>
          <a:noFill/>
          <a:ln w="12700">
            <a:solidFill>
              <a:srgbClr val="263A4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85432" y="566928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Návštevnosť je reálna, miera zapojenia je odhad — presne to má pilot zmerať.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Predpoklady sú explicitne pomenované — každý riadok lievika sa dá rozporovať a na pilote zmerať.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PERITORA IQ  ·  DVE VECI, KTORÉ STOJA ZA ZDÔRAZNENIE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Dátový gate je vyriešený. A hodnota nie je len cashflow.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5440680" cy="4297680"/>
          </a:xfrm>
          <a:prstGeom prst="roundRect">
            <a:avLst>
              <a:gd name="adj" fmla="val 1489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240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·  DÁTOVÝ GATE JE VYRIEŠENÝ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6517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Pôvodne to vyzeralo na platený FinStat alebo krehký scraping. Metodika v2 ide cez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verejné API registra účtovných závierok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štyri volania, JSON, bez kľúča, licencia CC0, zadarmo.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70332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sa neháda — skladá sa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vykázaného prevádzkového zisku a vykázaných odpisov. To je celý rozdiel oproti prehľadovým portálom: bez riadku odpisov podstrelia odhad EBITDA o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36–63 %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8920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Metodika je odskúšaná na skutočnej firme z registra, nie na ilustrácii — a je obhájiteľná riadok po riadku.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90488" y="1965960"/>
            <a:ext cx="5440680" cy="4297680"/>
          </a:xfrm>
          <a:prstGeom prst="roundRect">
            <a:avLst>
              <a:gd name="adj" fmla="val 1489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2240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·  HODNOTA NIE JE LEN ROČNÝ CASHFLOW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19672" y="2651760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 základnom scenári a marži 40–50 % je EBITDA rádovo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13–16 tis. €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Pri násobku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4–8×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ktorý sa v tomto segmente platí, je to oddeliteľné aktívum v rozpätí: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19672" y="370332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50–125 tis. €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43891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vlastnou databázou a konkrétnymi kupcami: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 poradcovia, banky pre SME úvery, PE fondy, dátové firmy typu FinStat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19672" y="52578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 ostatných produktoch to platí podobne — každý má vlastnú skupinu kupcov a dá sa predať samostatne.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RIZIKO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Riziková expozícia je zámerne veľmi nízka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5440680" cy="3063240"/>
          </a:xfrm>
          <a:prstGeom prst="roundRect">
            <a:avLst>
              <a:gd name="adj" fmla="val 2090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2860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INVESTIČNÁ BÁZA — DRŽANÁ DOLE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69748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 — part-time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softvér, ktorý (zatiaľ) platím ja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rádovo desiatky €/mes.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25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prípadne part-time vývojár — ak sa k tomu dopracujeme a bude to dávať zmysel (najskôr Peritora a Splato)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90488" y="2011680"/>
            <a:ext cx="5440680" cy="3063240"/>
          </a:xfrm>
          <a:prstGeom prst="roundRect">
            <a:avLst>
              <a:gd name="adj" fmla="val 2090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9672" y="22860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F2B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NAJHORŠÍ SCENÁR PRI JEDNOM PILOTE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6974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 týždne práce</a:t>
            </a:r>
            <a:pPr indent="0" marL="0">
              <a:buNone/>
            </a:pPr>
            <a:r>
              <a:rPr lang="en-US" sz="13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poznatok, že to nefunguje.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329184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Presne to sa teraz stalo s AI MoneyMastermind — a je to v poriadku, na to gate slúži.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Žiadny rozpočet. Žiadny tím. Žiadny záväzok.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440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Low-cost, high-upside: riziko na strane firmy je nulové, upside je celý náš.
</a:t>
            </a:r>
            <a:pPr algn="ctr"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Nerozhodujeme o investícii — rozhodujeme o tom, či dáme priestor pokusu.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SPÔSOB PRÁCE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Skúšať — iterovať — škálovať — zahodiť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2624328" cy="1920240"/>
          </a:xfrm>
          <a:prstGeom prst="roundRect">
            <a:avLst>
              <a:gd name="adj" fmla="val 3333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5528" y="2286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C71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95528" y="2651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SKÚŠAŤ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za týždne, nie mesiace — s vopred dohodnutou metrikou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78708" y="2103120"/>
            <a:ext cx="2624328" cy="1920240"/>
          </a:xfrm>
          <a:prstGeom prst="roundRect">
            <a:avLst>
              <a:gd name="adj" fmla="val 3333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07308" y="2286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C71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607308" y="2651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ITEROVAŤ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607308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 metrika žije, ladíme produkt aj cenu na reálnych používateľoch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90488" y="2103120"/>
            <a:ext cx="2624328" cy="1920240"/>
          </a:xfrm>
          <a:prstGeom prst="roundRect">
            <a:avLst>
              <a:gd name="adj" fmla="val 3333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9088" y="2286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C71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19088" y="2651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ŠKÁLOVAŤ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19088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čo funguje, dostane vývojára a distribúciu — CZ/HU cez sieť Forbes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02268" y="2103120"/>
            <a:ext cx="2624328" cy="1920240"/>
          </a:xfrm>
          <a:prstGeom prst="roundRect">
            <a:avLst>
              <a:gd name="adj" fmla="val 3333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0868" y="2286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C71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230868" y="2651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F2B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ZAHODIŤ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230868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 metrika na pilote nesedí, projekt končí — bez sentimentu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3434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Hodnota nie je v tom, že vyjde každý pokus.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 tom, že cena jedného pokusu je nízka — a každý ďalší je lacnejší než predchádzajúci, lebo stack, metodika aj distribučná cesta už stoja. AI MoneyMastermind je dôkaz, že gate funguje: pokus stál 4 týždne a poznatok máme.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 nebudeme inovovať, nebudeme sa zlepšovať. Toto je najlacnejší spôsob, ako si udržať náskok — skúšať veľa vecí za málo peňazí a rýchlo zahadzovať to, čo nefunguje.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13716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NÁVRH NA STRETNUTIE  ·  4. SEPTEMBRA, 13:00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83080"/>
            <a:ext cx="6583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Projekt po projekte.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Dátum a metrika.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8404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Prejdime zoznam projekt po projekte a dajme si pre každý rozhodovací bod: dátum, metriku a ako ďalej. Viaceré projekty už nie sú v štádiu nápadu — podklady sú rozpracované a poslané vopred.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Kmoško  ·  pkmosko@gmail.com  ·  monetize.cx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52360" y="1371600"/>
            <a:ext cx="4160520" cy="4572000"/>
          </a:xfrm>
          <a:prstGeom prst="roundRect">
            <a:avLst>
              <a:gd name="adj" fmla="val 1538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0" y="1691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PODKLADY V PRÍLOHE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0" y="2103120"/>
            <a:ext cx="3611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rad ako celok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produkty, ekonomika, distribúcia, exit logika, štruktúra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Domera IQ  ·  Fidenta IQ  ·  Firma IQ / Peritora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rozpracované produktové podklady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Metodika ocenenia (v2)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obhájiteľná riadok po riadku, odskúšaná na reálnej firme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· Forbes SK — návrh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samostatná prezentácia + zaradenie na web AI inovácií v médiách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2026-09-01T14:44:06Z</dcterms:created>
  <dcterms:modified xsi:type="dcterms:W3CDTF">2026-09-01T14:44:06Z</dcterms:modified>
</cp:coreProperties>
</file>